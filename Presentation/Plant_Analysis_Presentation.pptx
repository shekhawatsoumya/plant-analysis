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charts/chart4.xml" ContentType="application/vnd.openxmlformats-officedocument.drawingml.chart+xml"/>
  <Override PartName="/ppt/notesSlides/notesSlide20.xml" ContentType="application/vnd.openxmlformats-officedocument.presentationml.notesSlide+xml"/>
  <Override PartName="/ppt/charts/chart5.xml" ContentType="application/vnd.openxmlformats-officedocument.drawingml.chart+xml"/>
  <Override PartName="/ppt/notesSlides/notesSlide21.xml" ContentType="application/vnd.openxmlformats-officedocument.presentationml.notesSlide+xml"/>
  <Override PartName="/ppt/charts/chart6.xml" ContentType="application/vnd.openxmlformats-officedocument.drawingml.chart+xml"/>
  <Override PartName="/ppt/notesSlides/notesSlide22.xml" ContentType="application/vnd.openxmlformats-officedocument.presentationml.notesSlide+xml"/>
  <Override PartName="/ppt/charts/chart7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3" r:id="rId28"/>
    <p:sldId id="284" r:id="rId29"/>
    <p:sldId id="285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ali Shekhawat" userId="0309683e1721122f" providerId="LiveId" clId="{81579934-A0E3-4E5B-A9C3-621F00061F9F}"/>
    <pc:docChg chg="undo custSel delSld modSld">
      <pc:chgData name="Sonali Shekhawat" userId="0309683e1721122f" providerId="LiveId" clId="{81579934-A0E3-4E5B-A9C3-621F00061F9F}" dt="2026-03-19T10:43:09.871" v="110" actId="313"/>
      <pc:docMkLst>
        <pc:docMk/>
      </pc:docMkLst>
      <pc:sldChg chg="addSp delSp mod">
        <pc:chgData name="Sonali Shekhawat" userId="0309683e1721122f" providerId="LiveId" clId="{81579934-A0E3-4E5B-A9C3-621F00061F9F}" dt="2026-03-19T10:06:40.751" v="5" actId="478"/>
        <pc:sldMkLst>
          <pc:docMk/>
          <pc:sldMk cId="0" sldId="256"/>
        </pc:sldMkLst>
        <pc:spChg chg="add del">
          <ac:chgData name="Sonali Shekhawat" userId="0309683e1721122f" providerId="LiveId" clId="{81579934-A0E3-4E5B-A9C3-621F00061F9F}" dt="2026-03-19T10:06:38.679" v="4" actId="478"/>
          <ac:spMkLst>
            <pc:docMk/>
            <pc:sldMk cId="0" sldId="256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06:25.379" v="0" actId="478"/>
          <ac:spMkLst>
            <pc:docMk/>
            <pc:sldMk cId="0" sldId="256"/>
            <ac:spMk id="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06:30.529" v="1" actId="478"/>
          <ac:spMkLst>
            <pc:docMk/>
            <pc:sldMk cId="0" sldId="256"/>
            <ac:spMk id="1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06:40.751" v="5" actId="478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Sonali Shekhawat" userId="0309683e1721122f" providerId="LiveId" clId="{81579934-A0E3-4E5B-A9C3-621F00061F9F}" dt="2026-03-19T10:43:09.871" v="110" actId="313"/>
        <pc:sldMkLst>
          <pc:docMk/>
          <pc:sldMk cId="0" sldId="257"/>
        </pc:sldMkLst>
        <pc:spChg chg="mod">
          <ac:chgData name="Sonali Shekhawat" userId="0309683e1721122f" providerId="LiveId" clId="{81579934-A0E3-4E5B-A9C3-621F00061F9F}" dt="2026-03-19T10:06:47.284" v="14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8:36.460" v="30" actId="1076"/>
          <ac:spMkLst>
            <pc:docMk/>
            <pc:sldMk cId="0" sldId="257"/>
            <ac:spMk id="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1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1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8:36.460" v="30" actId="1076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8:36.460" v="30" actId="1076"/>
          <ac:spMkLst>
            <pc:docMk/>
            <pc:sldMk cId="0" sldId="257"/>
            <ac:spMk id="2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2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8:36.460" v="30" actId="1076"/>
          <ac:spMkLst>
            <pc:docMk/>
            <pc:sldMk cId="0" sldId="257"/>
            <ac:spMk id="2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3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3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8:36.460" v="30" actId="1076"/>
          <ac:spMkLst>
            <pc:docMk/>
            <pc:sldMk cId="0" sldId="257"/>
            <ac:spMk id="33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8:36.460" v="30" actId="1076"/>
          <ac:spMkLst>
            <pc:docMk/>
            <pc:sldMk cId="0" sldId="257"/>
            <ac:spMk id="3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36.475" v="45" actId="20577"/>
          <ac:spMkLst>
            <pc:docMk/>
            <pc:sldMk cId="0" sldId="257"/>
            <ac:spMk id="3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3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9:06.100" v="35" actId="14100"/>
          <ac:spMkLst>
            <pc:docMk/>
            <pc:sldMk cId="0" sldId="257"/>
            <ac:spMk id="3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43:09.871" v="110" actId="313"/>
          <ac:spMkLst>
            <pc:docMk/>
            <pc:sldMk cId="0" sldId="257"/>
            <ac:spMk id="3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42:19.651" v="88" actId="20577"/>
          <ac:spMkLst>
            <pc:docMk/>
            <pc:sldMk cId="0" sldId="257"/>
            <ac:spMk id="40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4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24.715" v="42" actId="14100"/>
          <ac:spMkLst>
            <pc:docMk/>
            <pc:sldMk cId="0" sldId="257"/>
            <ac:spMk id="42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0:44.116" v="55" actId="20577"/>
          <ac:spMkLst>
            <pc:docMk/>
            <pc:sldMk cId="0" sldId="257"/>
            <ac:spMk id="44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9:35.317" v="38" actId="14100"/>
          <ac:spMkLst>
            <pc:docMk/>
            <pc:sldMk cId="0" sldId="257"/>
            <ac:spMk id="4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9:38.673" v="39" actId="14100"/>
          <ac:spMkLst>
            <pc:docMk/>
            <pc:sldMk cId="0" sldId="257"/>
            <ac:spMk id="47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9:43.627" v="40" actId="14100"/>
          <ac:spMkLst>
            <pc:docMk/>
            <pc:sldMk cId="0" sldId="257"/>
            <ac:spMk id="4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9:25.640" v="37" actId="1076"/>
          <ac:spMkLst>
            <pc:docMk/>
            <pc:sldMk cId="0" sldId="257"/>
            <ac:spMk id="49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09:25.640" v="37" actId="1076"/>
          <ac:spMkLst>
            <pc:docMk/>
            <pc:sldMk cId="0" sldId="257"/>
            <ac:spMk id="50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10:51.677" v="56" actId="478"/>
        <pc:sldMkLst>
          <pc:docMk/>
          <pc:sldMk cId="0" sldId="258"/>
        </pc:sldMkLst>
        <pc:spChg chg="del">
          <ac:chgData name="Sonali Shekhawat" userId="0309683e1721122f" providerId="LiveId" clId="{81579934-A0E3-4E5B-A9C3-621F00061F9F}" dt="2026-03-19T10:10:51.677" v="56" actId="478"/>
          <ac:spMkLst>
            <pc:docMk/>
            <pc:sldMk cId="0" sldId="258"/>
            <ac:spMk id="17" creationId="{00000000-0000-0000-0000-000000000000}"/>
          </ac:spMkLst>
        </pc:spChg>
      </pc:sldChg>
      <pc:sldChg chg="modSp mod">
        <pc:chgData name="Sonali Shekhawat" userId="0309683e1721122f" providerId="LiveId" clId="{81579934-A0E3-4E5B-A9C3-621F00061F9F}" dt="2026-03-19T10:11:56.707" v="65" actId="14100"/>
        <pc:sldMkLst>
          <pc:docMk/>
          <pc:sldMk cId="0" sldId="264"/>
        </pc:sldMkLst>
        <pc:spChg chg="mod">
          <ac:chgData name="Sonali Shekhawat" userId="0309683e1721122f" providerId="LiveId" clId="{81579934-A0E3-4E5B-A9C3-621F00061F9F}" dt="2026-03-19T10:11:56.707" v="65" actId="14100"/>
          <ac:spMkLst>
            <pc:docMk/>
            <pc:sldMk cId="0" sldId="264"/>
            <ac:spMk id="36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1:48.647" v="64" actId="14100"/>
          <ac:spMkLst>
            <pc:docMk/>
            <pc:sldMk cId="0" sldId="264"/>
            <ac:spMk id="37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12:33.606" v="68" actId="478"/>
        <pc:sldMkLst>
          <pc:docMk/>
          <pc:sldMk cId="0" sldId="265"/>
        </pc:sldMkLst>
        <pc:spChg chg="del">
          <ac:chgData name="Sonali Shekhawat" userId="0309683e1721122f" providerId="LiveId" clId="{81579934-A0E3-4E5B-A9C3-621F00061F9F}" dt="2026-03-19T10:12:33.606" v="68" actId="478"/>
          <ac:spMkLst>
            <pc:docMk/>
            <pc:sldMk cId="0" sldId="265"/>
            <ac:spMk id="2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33.606" v="68" actId="478"/>
          <ac:spMkLst>
            <pc:docMk/>
            <pc:sldMk cId="0" sldId="265"/>
            <ac:spMk id="2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33.606" v="68" actId="478"/>
          <ac:spMkLst>
            <pc:docMk/>
            <pc:sldMk cId="0" sldId="265"/>
            <ac:spMk id="3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33.606" v="68" actId="478"/>
          <ac:spMkLst>
            <pc:docMk/>
            <pc:sldMk cId="0" sldId="265"/>
            <ac:spMk id="31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16.764" v="66" actId="478"/>
          <ac:spMkLst>
            <pc:docMk/>
            <pc:sldMk cId="0" sldId="265"/>
            <ac:spMk id="3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23.767" v="67" actId="478"/>
          <ac:spMkLst>
            <pc:docMk/>
            <pc:sldMk cId="0" sldId="265"/>
            <ac:spMk id="3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23.767" v="67" actId="478"/>
          <ac:spMkLst>
            <pc:docMk/>
            <pc:sldMk cId="0" sldId="265"/>
            <ac:spMk id="3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23.767" v="67" actId="478"/>
          <ac:spMkLst>
            <pc:docMk/>
            <pc:sldMk cId="0" sldId="265"/>
            <ac:spMk id="36" creationId="{00000000-0000-0000-0000-000000000000}"/>
          </ac:spMkLst>
        </pc:spChg>
      </pc:sldChg>
      <pc:sldChg chg="delSp mod">
        <pc:chgData name="Sonali Shekhawat" userId="0309683e1721122f" providerId="LiveId" clId="{81579934-A0E3-4E5B-A9C3-621F00061F9F}" dt="2026-03-19T10:12:51.088" v="69" actId="478"/>
        <pc:sldMkLst>
          <pc:docMk/>
          <pc:sldMk cId="0" sldId="266"/>
        </pc:sldMkLst>
        <pc:spChg chg="del">
          <ac:chgData name="Sonali Shekhawat" userId="0309683e1721122f" providerId="LiveId" clId="{81579934-A0E3-4E5B-A9C3-621F00061F9F}" dt="2026-03-19T10:12:51.088" v="69" actId="478"/>
          <ac:spMkLst>
            <pc:docMk/>
            <pc:sldMk cId="0" sldId="266"/>
            <ac:spMk id="3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51.088" v="69" actId="478"/>
          <ac:spMkLst>
            <pc:docMk/>
            <pc:sldMk cId="0" sldId="266"/>
            <ac:spMk id="3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51.088" v="69" actId="478"/>
          <ac:spMkLst>
            <pc:docMk/>
            <pc:sldMk cId="0" sldId="266"/>
            <ac:spMk id="3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51.088" v="69" actId="478"/>
          <ac:spMkLst>
            <pc:docMk/>
            <pc:sldMk cId="0" sldId="266"/>
            <ac:spMk id="3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51.088" v="69" actId="478"/>
          <ac:spMkLst>
            <pc:docMk/>
            <pc:sldMk cId="0" sldId="266"/>
            <ac:spMk id="4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2:51.088" v="69" actId="478"/>
          <ac:spMkLst>
            <pc:docMk/>
            <pc:sldMk cId="0" sldId="266"/>
            <ac:spMk id="41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14:15.550" v="74" actId="20577"/>
        <pc:sldMkLst>
          <pc:docMk/>
          <pc:sldMk cId="0" sldId="268"/>
        </pc:sldMkLst>
        <pc:spChg chg="mod">
          <ac:chgData name="Sonali Shekhawat" userId="0309683e1721122f" providerId="LiveId" clId="{81579934-A0E3-4E5B-A9C3-621F00061F9F}" dt="2026-03-19T10:13:45.428" v="70" actId="20577"/>
          <ac:spMkLst>
            <pc:docMk/>
            <pc:sldMk cId="0" sldId="268"/>
            <ac:spMk id="15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4:12.815" v="73" actId="20577"/>
          <ac:spMkLst>
            <pc:docMk/>
            <pc:sldMk cId="0" sldId="268"/>
            <ac:spMk id="18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4:15.550" v="74" actId="20577"/>
          <ac:spMkLst>
            <pc:docMk/>
            <pc:sldMk cId="0" sldId="268"/>
            <ac:spMk id="21" creationId="{00000000-0000-0000-0000-000000000000}"/>
          </ac:spMkLst>
        </pc:spChg>
        <pc:spChg chg="mod">
          <ac:chgData name="Sonali Shekhawat" userId="0309683e1721122f" providerId="LiveId" clId="{81579934-A0E3-4E5B-A9C3-621F00061F9F}" dt="2026-03-19T10:13:58.884" v="72" actId="20577"/>
          <ac:spMkLst>
            <pc:docMk/>
            <pc:sldMk cId="0" sldId="268"/>
            <ac:spMk id="3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3:52.076" v="71" actId="478"/>
          <ac:spMkLst>
            <pc:docMk/>
            <pc:sldMk cId="0" sldId="268"/>
            <ac:spMk id="3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3:52.076" v="71" actId="478"/>
          <ac:spMkLst>
            <pc:docMk/>
            <pc:sldMk cId="0" sldId="268"/>
            <ac:spMk id="37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3:52.076" v="71" actId="478"/>
          <ac:spMkLst>
            <pc:docMk/>
            <pc:sldMk cId="0" sldId="268"/>
            <ac:spMk id="3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3:52.076" v="71" actId="478"/>
          <ac:spMkLst>
            <pc:docMk/>
            <pc:sldMk cId="0" sldId="268"/>
            <ac:spMk id="4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3:52.076" v="71" actId="478"/>
          <ac:spMkLst>
            <pc:docMk/>
            <pc:sldMk cId="0" sldId="268"/>
            <ac:spMk id="41" creationId="{00000000-0000-0000-0000-000000000000}"/>
          </ac:spMkLst>
        </pc:spChg>
      </pc:sldChg>
      <pc:sldChg chg="del">
        <pc:chgData name="Sonali Shekhawat" userId="0309683e1721122f" providerId="LiveId" clId="{81579934-A0E3-4E5B-A9C3-621F00061F9F}" dt="2026-03-19T10:14:58.802" v="75" actId="2696"/>
        <pc:sldMkLst>
          <pc:docMk/>
          <pc:sldMk cId="0" sldId="278"/>
        </pc:sldMkLst>
      </pc:sldChg>
      <pc:sldChg chg="delSp modSp mod">
        <pc:chgData name="Sonali Shekhawat" userId="0309683e1721122f" providerId="LiveId" clId="{81579934-A0E3-4E5B-A9C3-621F00061F9F}" dt="2026-03-19T10:42:49.694" v="109" actId="20577"/>
        <pc:sldMkLst>
          <pc:docMk/>
          <pc:sldMk cId="0" sldId="279"/>
        </pc:sldMkLst>
        <pc:spChg chg="mod">
          <ac:chgData name="Sonali Shekhawat" userId="0309683e1721122f" providerId="LiveId" clId="{81579934-A0E3-4E5B-A9C3-621F00061F9F}" dt="2026-03-19T10:42:49.694" v="109" actId="20577"/>
          <ac:spMkLst>
            <pc:docMk/>
            <pc:sldMk cId="0" sldId="279"/>
            <ac:spMk id="5" creationId="{00000000-0000-0000-0000-000000000000}"/>
          </ac:spMkLst>
        </pc:spChg>
        <pc:spChg chg="del mod">
          <ac:chgData name="Sonali Shekhawat" userId="0309683e1721122f" providerId="LiveId" clId="{81579934-A0E3-4E5B-A9C3-621F00061F9F}" dt="2026-03-19T10:15:07.813" v="77" actId="478"/>
          <ac:spMkLst>
            <pc:docMk/>
            <pc:sldMk cId="0" sldId="279"/>
            <ac:spMk id="7" creationId="{00000000-0000-0000-0000-000000000000}"/>
          </ac:spMkLst>
        </pc:spChg>
      </pc:sldChg>
      <pc:sldChg chg="delSp modSp mod">
        <pc:chgData name="Sonali Shekhawat" userId="0309683e1721122f" providerId="LiveId" clId="{81579934-A0E3-4E5B-A9C3-621F00061F9F}" dt="2026-03-19T10:15:52.778" v="79" actId="478"/>
        <pc:sldMkLst>
          <pc:docMk/>
          <pc:sldMk cId="0" sldId="281"/>
        </pc:sldMkLst>
        <pc:spChg chg="mod">
          <ac:chgData name="Sonali Shekhawat" userId="0309683e1721122f" providerId="LiveId" clId="{81579934-A0E3-4E5B-A9C3-621F00061F9F}" dt="2026-03-19T10:15:24.187" v="78" actId="20577"/>
          <ac:spMkLst>
            <pc:docMk/>
            <pc:sldMk cId="0" sldId="281"/>
            <ac:spMk id="4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10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12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13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15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16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18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19" creationId="{00000000-0000-0000-0000-000000000000}"/>
          </ac:spMkLst>
        </pc:spChg>
        <pc:spChg chg="del">
          <ac:chgData name="Sonali Shekhawat" userId="0309683e1721122f" providerId="LiveId" clId="{81579934-A0E3-4E5B-A9C3-621F00061F9F}" dt="2026-03-19T10:15:52.778" v="79" actId="478"/>
          <ac:spMkLst>
            <pc:docMk/>
            <pc:sldMk cId="0" sldId="281"/>
            <ac:spMk id="2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Price (INR)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Areca Palm</c:v>
                </c:pt>
                <c:pt idx="1">
                  <c:v>Clove Plant</c:v>
                </c:pt>
                <c:pt idx="2">
                  <c:v>Golden Money</c:v>
                </c:pt>
                <c:pt idx="3">
                  <c:v>Jade Plant</c:v>
                </c:pt>
                <c:pt idx="4">
                  <c:v>Variegated Money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94.43</c:v>
                </c:pt>
                <c:pt idx="1">
                  <c:v>101.25</c:v>
                </c:pt>
                <c:pt idx="2">
                  <c:v>148.16999999999999</c:v>
                </c:pt>
                <c:pt idx="3">
                  <c:v>444.18</c:v>
                </c:pt>
                <c:pt idx="4">
                  <c:v>174.67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8E3-461A-BD86-09C1116EF6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Special Price (INR)</c:v>
                </c:pt>
              </c:strCache>
            </c:strRef>
          </c:tx>
          <c:spPr>
            <a:solidFill>
              <a:srgbClr val="95D5B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Areca Palm</c:v>
                </c:pt>
                <c:pt idx="1">
                  <c:v>Clove Plant</c:v>
                </c:pt>
                <c:pt idx="2">
                  <c:v>Golden Money</c:v>
                </c:pt>
                <c:pt idx="3">
                  <c:v>Jade Plant</c:v>
                </c:pt>
                <c:pt idx="4">
                  <c:v>Variegated Money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10.98</c:v>
                </c:pt>
                <c:pt idx="1">
                  <c:v>37.29</c:v>
                </c:pt>
                <c:pt idx="2">
                  <c:v>115.17</c:v>
                </c:pt>
                <c:pt idx="3">
                  <c:v>332.97</c:v>
                </c:pt>
                <c:pt idx="4">
                  <c:v>141.62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8E3-461A-BD86-09C1116EF6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SKU Count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9C5-489C-9CB3-D0E8B41420EC}"/>
              </c:ext>
            </c:extLst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9C5-489C-9CB3-D0E8B41420EC}"/>
              </c:ext>
            </c:extLst>
          </c:dPt>
          <c:dPt>
            <c:idx val="2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9C5-489C-9CB3-D0E8B41420EC}"/>
              </c:ext>
            </c:extLst>
          </c:dPt>
          <c:dPt>
            <c:idx val="3"/>
            <c:invertIfNegative val="0"/>
            <c:bubble3D val="0"/>
            <c:spPr>
              <a:solidFill>
                <a:srgbClr val="74C6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9C5-489C-9CB3-D0E8B41420EC}"/>
              </c:ext>
            </c:extLst>
          </c:dPt>
          <c:dPt>
            <c:idx val="4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9C5-489C-9CB3-D0E8B41420EC}"/>
              </c:ext>
            </c:extLst>
          </c:dPt>
          <c:dPt>
            <c:idx val="5"/>
            <c:invertIfNegative val="0"/>
            <c:bubble3D val="0"/>
            <c:spPr>
              <a:solidFill>
                <a:srgbClr val="B7E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9C5-489C-9CB3-D0E8B41420EC}"/>
              </c:ext>
            </c:extLst>
          </c:dPt>
          <c:dPt>
            <c:idx val="6"/>
            <c:invertIfNegative val="0"/>
            <c:bubble3D val="0"/>
            <c:spPr>
              <a:solidFill>
                <a:srgbClr val="D8F3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29C5-489C-9CB3-D0E8B41420EC}"/>
              </c:ext>
            </c:extLst>
          </c:dPt>
          <c:dPt>
            <c:idx val="7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29C5-489C-9CB3-D0E8B41420EC}"/>
              </c:ext>
            </c:extLst>
          </c:dPt>
          <c:dPt>
            <c:idx val="8"/>
            <c:invertIfNegative val="0"/>
            <c:bubble3D val="0"/>
            <c:spPr>
              <a:solidFill>
                <a:srgbClr val="74C69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29C5-489C-9CB3-D0E8B41420EC}"/>
              </c:ext>
            </c:extLst>
          </c:dPt>
          <c:dPt>
            <c:idx val="9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29C5-489C-9CB3-D0E8B41420E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UGADU</c:v>
                </c:pt>
                <c:pt idx="1">
                  <c:v>AlaIStore</c:v>
                </c:pt>
                <c:pt idx="2">
                  <c:v>CloudFarming</c:v>
                </c:pt>
                <c:pt idx="3">
                  <c:v>GreenOn</c:v>
                </c:pt>
                <c:pt idx="4">
                  <c:v>RoyANDRoy
Traders</c:v>
                </c:pt>
                <c:pt idx="5">
                  <c:v>GREENPLANT</c:v>
                </c:pt>
                <c:pt idx="6">
                  <c:v>SKYTCOM</c:v>
                </c:pt>
                <c:pt idx="7">
                  <c:v>TheEntacaloo</c:v>
                </c:pt>
                <c:pt idx="8">
                  <c:v>DigitalGreenper</c:v>
                </c:pt>
                <c:pt idx="9">
                  <c:v>Barthloew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177</c:v>
                </c:pt>
                <c:pt idx="1">
                  <c:v>55</c:v>
                </c:pt>
                <c:pt idx="2">
                  <c:v>35</c:v>
                </c:pt>
                <c:pt idx="3">
                  <c:v>25</c:v>
                </c:pt>
                <c:pt idx="4">
                  <c:v>10</c:v>
                </c:pt>
                <c:pt idx="5">
                  <c:v>10</c:v>
                </c:pt>
                <c:pt idx="6">
                  <c:v>7</c:v>
                </c:pt>
                <c:pt idx="7">
                  <c:v>5</c:v>
                </c:pt>
                <c:pt idx="8">
                  <c:v>5</c:v>
                </c:pt>
                <c:pt idx="9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29C5-489C-9CB3-D0E8B41420E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Plant Size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01-4BAA-8172-3ED895F5C408}"/>
              </c:ext>
            </c:extLst>
          </c:dPt>
          <c:dPt>
            <c:idx val="1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01-4BAA-8172-3ED895F5C408}"/>
              </c:ext>
            </c:extLst>
          </c:dPt>
          <c:dPt>
            <c:idx val="2"/>
            <c:bubble3D val="0"/>
            <c:spPr>
              <a:solidFill>
                <a:srgbClr val="E2E8F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01-4BAA-8172-3ED895F5C40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01-4BAA-8172-3ED895F5C40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01-4BAA-8172-3ED895F5C40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01-4BAA-8172-3ED895F5C40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Medium</c:v>
                </c:pt>
                <c:pt idx="1">
                  <c:v>Large</c:v>
                </c:pt>
                <c:pt idx="2">
                  <c:v>Small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73</c:v>
                </c:pt>
                <c:pt idx="1">
                  <c:v>27</c:v>
                </c:pt>
                <c:pt idx="2">
                  <c:v>1E-3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01-4BAA-8172-3ED895F5C4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Plant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11-4F02-B34E-FA2D7FD53D98}"/>
              </c:ext>
            </c:extLst>
          </c:dPt>
          <c:dPt>
            <c:idx val="1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11-4F02-B34E-FA2D7FD53D98}"/>
              </c:ext>
            </c:extLst>
          </c:dPt>
          <c:dPt>
            <c:idx val="2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11-4F02-B34E-FA2D7FD53D98}"/>
              </c:ext>
            </c:extLst>
          </c:dPt>
          <c:dPt>
            <c:idx val="3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C11-4F02-B34E-FA2D7FD53D98}"/>
              </c:ext>
            </c:extLst>
          </c:dPt>
          <c:dPt>
            <c:idx val="4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C11-4F02-B34E-FA2D7FD53D98}"/>
              </c:ext>
            </c:extLst>
          </c:dPt>
          <c:dPt>
            <c:idx val="5"/>
            <c:bubble3D val="0"/>
            <c:spPr>
              <a:solidFill>
                <a:srgbClr val="B7E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C11-4F02-B34E-FA2D7FD53D98}"/>
              </c:ext>
            </c:extLst>
          </c:dPt>
          <c:dPt>
            <c:idx val="6"/>
            <c:bubble3D val="0"/>
            <c:spPr>
              <a:solidFill>
                <a:srgbClr val="D4A01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C11-4F02-B34E-FA2D7FD53D98}"/>
              </c:ext>
            </c:extLst>
          </c:dPt>
          <c:dPt>
            <c:idx val="7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C11-4F02-B34E-FA2D7FD53D98}"/>
              </c:ext>
            </c:extLst>
          </c:dPt>
          <c:dPt>
            <c:idx val="8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C11-4F02-B34E-FA2D7FD53D98}"/>
              </c:ext>
            </c:extLst>
          </c:dPt>
          <c:dPt>
            <c:idx val="9"/>
            <c:bubble3D val="0"/>
            <c:spPr>
              <a:solidFill>
                <a:srgbClr val="4755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C11-4F02-B34E-FA2D7FD53D98}"/>
              </c:ext>
            </c:extLst>
          </c:dPt>
          <c:cat>
            <c:strRef>
              <c:f>Sheet1!$A$2:$A$11</c:f>
              <c:strCache>
                <c:ptCount val="10"/>
                <c:pt idx="0">
                  <c:v>Flower</c:v>
                </c:pt>
                <c:pt idx="1">
                  <c:v>Succulent</c:v>
                </c:pt>
                <c:pt idx="2">
                  <c:v>Shrub</c:v>
                </c:pt>
                <c:pt idx="3">
                  <c:v>Herb</c:v>
                </c:pt>
                <c:pt idx="4">
                  <c:v>Creepers</c:v>
                </c:pt>
                <c:pt idx="5">
                  <c:v>Other Types</c:v>
                </c:pt>
                <c:pt idx="6">
                  <c:v>Bamboo</c:v>
                </c:pt>
                <c:pt idx="7">
                  <c:v>Fruit</c:v>
                </c:pt>
                <c:pt idx="8">
                  <c:v>Bonsai</c:v>
                </c:pt>
                <c:pt idx="9">
                  <c:v>Air Purifier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95</c:v>
                </c:pt>
                <c:pt idx="2">
                  <c:v>82</c:v>
                </c:pt>
                <c:pt idx="3">
                  <c:v>57</c:v>
                </c:pt>
                <c:pt idx="4">
                  <c:v>19</c:v>
                </c:pt>
                <c:pt idx="5">
                  <c:v>23</c:v>
                </c:pt>
                <c:pt idx="6">
                  <c:v>14</c:v>
                </c:pt>
                <c:pt idx="7">
                  <c:v>11</c:v>
                </c:pt>
                <c:pt idx="8">
                  <c:v>10</c:v>
                </c:pt>
                <c:pt idx="9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5C11-4F02-B34E-FA2D7FD53D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Plant Count</c:v>
                </c:pt>
              </c:strCache>
            </c:strRef>
          </c:tx>
          <c:spPr>
            <a:solidFill>
              <a:srgbClr val="1B43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A0D-4706-88A8-4C915EC60664}"/>
              </c:ext>
            </c:extLst>
          </c:dPt>
          <c:dPt>
            <c:idx val="1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A0D-4706-88A8-4C915EC60664}"/>
              </c:ext>
            </c:extLst>
          </c:dPt>
          <c:dPt>
            <c:idx val="2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A0D-4706-88A8-4C915EC6066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Indoor</c:v>
                </c:pt>
                <c:pt idx="1">
                  <c:v>Outdoor</c:v>
                </c:pt>
                <c:pt idx="2">
                  <c:v>Both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193</c:v>
                </c:pt>
                <c:pt idx="1">
                  <c:v>124</c:v>
                </c:pt>
                <c:pt idx="2">
                  <c:v>123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A0D-4706-88A8-4C915EC606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Original Price (INR)</c:v>
                </c:pt>
              </c:strCache>
            </c:strRef>
          </c:tx>
          <c:spPr>
            <a:ln w="31750" cap="flat">
              <a:solidFill>
                <a:srgbClr val="1B43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4332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Areca Palm</c:v>
                </c:pt>
                <c:pt idx="1">
                  <c:v>Clove Plant</c:v>
                </c:pt>
                <c:pt idx="2">
                  <c:v>Money Plant</c:v>
                </c:pt>
                <c:pt idx="3">
                  <c:v>Jade Plant</c:v>
                </c:pt>
                <c:pt idx="4">
                  <c:v>Variegated Money</c:v>
                </c:pt>
                <c:pt idx="5">
                  <c:v>Air Plant</c:v>
                </c:pt>
                <c:pt idx="6">
                  <c:v>Bonsai Fig</c:v>
                </c:pt>
                <c:pt idx="7">
                  <c:v>Snake Plant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94.43</c:v>
                </c:pt>
                <c:pt idx="1">
                  <c:v>101.25</c:v>
                </c:pt>
                <c:pt idx="2">
                  <c:v>148.16999999999999</c:v>
                </c:pt>
                <c:pt idx="3">
                  <c:v>444.18</c:v>
                </c:pt>
                <c:pt idx="4">
                  <c:v>174.67</c:v>
                </c:pt>
                <c:pt idx="5">
                  <c:v>88</c:v>
                </c:pt>
                <c:pt idx="6">
                  <c:v>210</c:v>
                </c:pt>
                <c:pt idx="7">
                  <c:v>130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7079-46CA-A24C-67B37C08E47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Special Price (INR)</c:v>
                </c:pt>
              </c:strCache>
            </c:strRef>
          </c:tx>
          <c:spPr>
            <a:ln w="31750" cap="flat">
              <a:solidFill>
                <a:srgbClr val="95D5B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5D5B2"/>
              </a:solidFill>
              <a:ln w="9525" cap="flat">
                <a:solidFill>
                  <a:srgbClr val="95D5B2"/>
                </a:solidFill>
                <a:prstDash val="solid"/>
                <a:round/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Areca Palm</c:v>
                </c:pt>
                <c:pt idx="1">
                  <c:v>Clove Plant</c:v>
                </c:pt>
                <c:pt idx="2">
                  <c:v>Money Plant</c:v>
                </c:pt>
                <c:pt idx="3">
                  <c:v>Jade Plant</c:v>
                </c:pt>
                <c:pt idx="4">
                  <c:v>Variegated Money</c:v>
                </c:pt>
                <c:pt idx="5">
                  <c:v>Air Plant</c:v>
                </c:pt>
                <c:pt idx="6">
                  <c:v>Bonsai Fig</c:v>
                </c:pt>
                <c:pt idx="7">
                  <c:v>Snake Plant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10.98</c:v>
                </c:pt>
                <c:pt idx="1">
                  <c:v>37.29</c:v>
                </c:pt>
                <c:pt idx="2">
                  <c:v>115.17</c:v>
                </c:pt>
                <c:pt idx="3">
                  <c:v>332.97</c:v>
                </c:pt>
                <c:pt idx="4">
                  <c:v>141.62</c:v>
                </c:pt>
                <c:pt idx="5">
                  <c:v>74</c:v>
                </c:pt>
                <c:pt idx="6">
                  <c:v>182</c:v>
                </c:pt>
                <c:pt idx="7">
                  <c:v>112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7079-46CA-A24C-67B37C08E47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%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A2B-4CFB-B312-97F4CCD458E3}"/>
              </c:ext>
            </c:extLst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A2B-4CFB-B312-97F4CCD458E3}"/>
              </c:ext>
            </c:extLst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A2B-4CFB-B312-97F4CCD458E3}"/>
              </c:ext>
            </c:extLst>
          </c:dPt>
          <c:dPt>
            <c:idx val="3"/>
            <c:invertIfNegative val="0"/>
            <c:bubble3D val="0"/>
            <c:spPr>
              <a:solidFill>
                <a:srgbClr val="52B7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A2B-4CFB-B312-97F4CCD458E3}"/>
              </c:ext>
            </c:extLst>
          </c:dPt>
          <c:dPt>
            <c:idx val="4"/>
            <c:invertIfNegative val="0"/>
            <c:bubble3D val="0"/>
            <c:spPr>
              <a:solidFill>
                <a:srgbClr val="95D5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CA2B-4CFB-B312-97F4CCD458E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Areca Palm
(ABEFARIYA)</c:v>
                </c:pt>
                <c:pt idx="1">
                  <c:v>Clove Plant
(Cloud Farm)</c:v>
                </c:pt>
                <c:pt idx="2">
                  <c:v>Golden Money
(UGAOO)</c:v>
                </c:pt>
                <c:pt idx="3">
                  <c:v>Jade Plant
(UGAOO)</c:v>
                </c:pt>
                <c:pt idx="4">
                  <c:v>Variegated Money
(UGAOO)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88.4</c:v>
                </c:pt>
                <c:pt idx="1">
                  <c:v>63.2</c:v>
                </c:pt>
                <c:pt idx="2">
                  <c:v>22.3</c:v>
                </c:pt>
                <c:pt idx="3">
                  <c:v>25</c:v>
                </c:pt>
                <c:pt idx="4">
                  <c:v>18.899999999999999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CA2B-4CFB-B312-97F4CCD458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52778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2D6A4F">
              <a:alpha val="45000"/>
            </a:srgbClr>
          </a:solidFill>
          <a:ln w="12700">
            <a:solidFill>
              <a:srgbClr val="2D6A4F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286000"/>
            <a:ext cx="2286000" cy="228600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548640"/>
            <a:ext cx="6400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80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ANALYSIS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078992"/>
            <a:ext cx="7315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Report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2402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&amp; Inventory Intelligence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097280" cy="457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of Contents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end-to-end analytics workflow across 27 slides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19456" y="74629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19456" y="752623"/>
            <a:ext cx="502920" cy="8046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9456" y="74629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86384" y="81030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 &amp; Domain Overview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" y="111205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Background, context, and industry landscape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00016" y="74629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0016" y="746292"/>
            <a:ext cx="502920" cy="8046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0016" y="74629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66944" y="81030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 &amp; Objectives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266944" y="111205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challenges and analytical goals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19456" y="170641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9456" y="1706412"/>
            <a:ext cx="502920" cy="8046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" y="17064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86384" y="177042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 &amp; Summary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86384" y="207217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structure, variables, and statistics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0016" y="170641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0016" y="1706412"/>
            <a:ext cx="50292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0016" y="170641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5276088" y="187452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Understanding &amp; Cleaning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266944" y="207217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definitions and preprocessing steps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19456" y="266653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19456" y="2666532"/>
            <a:ext cx="50292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9456" y="266653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86384" y="273054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Transformation &amp; Tools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86384" y="303229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fields, aggregations, and tech stack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00016" y="2666532"/>
            <a:ext cx="42976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00016" y="2666532"/>
            <a:ext cx="502920" cy="8046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0016" y="266653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5266944" y="273054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Questions &amp; EDA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66944" y="303229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questions and exploratory observations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19456" y="3626652"/>
            <a:ext cx="4297680" cy="73046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7" name="Shape 35"/>
          <p:cNvSpPr/>
          <p:nvPr/>
        </p:nvSpPr>
        <p:spPr>
          <a:xfrm>
            <a:off x="219456" y="3626652"/>
            <a:ext cx="502920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9456" y="3626652"/>
            <a:ext cx="502920" cy="730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795528" y="379476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Charts &amp; Visualizations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86384" y="399241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Pie, Line, Trend, Comparative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700016" y="3626652"/>
            <a:ext cx="4297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3626652"/>
            <a:ext cx="502920" cy="7132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0016" y="3626652"/>
            <a:ext cx="502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5266944" y="3690660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Explanation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266944" y="3992412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filters, layout, and interactivity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219456" y="4421828"/>
            <a:ext cx="4297680" cy="648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219456" y="4421828"/>
            <a:ext cx="502920" cy="6485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05740" y="4536831"/>
            <a:ext cx="502920" cy="5335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772668" y="4496386"/>
            <a:ext cx="3675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Insights, Recommendations &amp; Conclusion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763524" y="4592750"/>
            <a:ext cx="36758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Findings, actions, and future scope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Context of the Plant Dataset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This Project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234440"/>
            <a:ext cx="51663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analyses an e-commerce plant inventory dataset from a multi-brand online marketplace.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captures plant product listings including pricing, brand identity, plant type, size, and recommended location (Indoor/Outdoor/Both).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spans 10+ plant categories and 13+ supplier brands, with 440+ individual SKUs.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will support strategic decisions in procurement, pricing, and inventory management.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 dashboard enables real-time filtering across brand, type, location, and size dimensions.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623560" y="960120"/>
            <a:ext cx="3200400" cy="8686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1051560"/>
            <a:ext cx="32004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440+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623560" y="1498702"/>
            <a:ext cx="32004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Plant Listings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938528"/>
            <a:ext cx="320040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2029968"/>
            <a:ext cx="32004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13+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623560" y="2477110"/>
            <a:ext cx="32004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Brands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623560" y="2916936"/>
            <a:ext cx="320040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623560" y="3008376"/>
            <a:ext cx="3200400" cy="4777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623560" y="3455518"/>
            <a:ext cx="3200400" cy="3040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Categories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Domain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Online Plant &amp; Horticulture E-Commerce Industry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896112"/>
            <a:ext cx="2880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96112"/>
            <a:ext cx="54864" cy="16642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601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Industry Context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92608" y="1243584"/>
            <a:ext cx="2715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indoor plant market is growing annually, fuelled by urbanisation, wellness trends, and remote work driving demand for green interior environments.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896112"/>
            <a:ext cx="2880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96112"/>
            <a:ext cx="54864" cy="16642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2696" y="9601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E-Commerce Channel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82696" y="1243584"/>
            <a:ext cx="2715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platforms have disrupted traditional nurseries offering wider variety, competitive pricing, and home delivery — making plant ownership more accessible.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896112"/>
            <a:ext cx="2880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896112"/>
            <a:ext cx="54864" cy="16642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72784" y="9601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Dynamics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72784" y="1243584"/>
            <a:ext cx="2715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inventory is uniquely challenging due to perishability, seasonal variation, and diversity. Unlike durable goods, plants need careful size, type and placement classification.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724912"/>
            <a:ext cx="2880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724912"/>
            <a:ext cx="54864" cy="16642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27889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Complexity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92608" y="3072384"/>
            <a:ext cx="2715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pricing is influenced by rarity, size, brand reputation, and platform promotions. Discounting strategies are critical for conversion and inventory clearance.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172968" y="2724912"/>
            <a:ext cx="2880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72968" y="2724912"/>
            <a:ext cx="54864" cy="16642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82696" y="27889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Taxonomy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82696" y="3072384"/>
            <a:ext cx="2715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are classified by type (Shrub, Flower, Succulent, Herb, Fruit, Bamboo), size (Small, Medium, Large), and suitability (Indoor, Outdoor, Both).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2724912"/>
            <a:ext cx="2880360" cy="1664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2724912"/>
            <a:ext cx="54864" cy="16642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72784" y="2788920"/>
            <a:ext cx="27157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Landscape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272784" y="3072384"/>
            <a:ext cx="2715768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 of large established brands like UGADU and specialist niche suppliers. Brand trust significantly influences purchasing in online plant commerce.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60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Defining the Business Challenge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8412480" cy="749808"/>
          </a:xfrm>
          <a:prstGeom prst="rect">
            <a:avLst/>
          </a:prstGeom>
          <a:solidFill>
            <a:srgbClr val="2D6A4F">
              <a:alpha val="7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48132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Concentration Risk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74650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40% of inventory is controlled by UGADU, creating supply chain fragility and limiting competitive pricing leverage for the platform.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86000"/>
            <a:ext cx="8412480" cy="749808"/>
          </a:xfrm>
          <a:prstGeom prst="rect">
            <a:avLst/>
          </a:prstGeom>
          <a:solidFill>
            <a:srgbClr val="2D6A4F">
              <a:alpha val="7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00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Inconsistency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61518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discounting disparities exist — Jade Plant shows 47% cut — raising questions about margin erosion and pricing strategy alignment across the catalogue.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3154680"/>
            <a:ext cx="8412480" cy="749808"/>
          </a:xfrm>
          <a:prstGeom prst="rect">
            <a:avLst/>
          </a:prstGeom>
          <a:solidFill>
            <a:srgbClr val="2D6A4F">
              <a:alpha val="7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1868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Size Segment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8386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plants represent 0% of inventory despite high demand from office and urban apartment consumers, indicating a critical gap in the product catalogue.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4023360"/>
            <a:ext cx="8412480" cy="749808"/>
          </a:xfrm>
          <a:prstGeom prst="rect">
            <a:avLst/>
          </a:prstGeom>
          <a:solidFill>
            <a:srgbClr val="2D6A4F">
              <a:alpha val="75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08736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 Imbalance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4352544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plants (193) vastly outnumber Outdoor-only (124), potentially under-serving garden and outdoor lifestyle customer segments.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Objectives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Goals across Business, Analytical, and Strategic dimensions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896112"/>
            <a:ext cx="28803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96112"/>
            <a:ext cx="2880360" cy="45720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GOAL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444752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revenue optimisation opportunities through price-discount analysis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brand performance to guide supplier diversification strategy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inventory composition to improve catalogue decisions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quick-win opportunities such as introducing Small plants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172968" y="896112"/>
            <a:ext cx="28803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96112"/>
            <a:ext cx="2880360" cy="4572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4408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ANALYTICAL GOAL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64408" y="1444752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clean, structured dataset from raw e-commerce product listings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comprehensive EDA to uncover hidden patterns in plant inventory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visualisations for stakeholder accessibility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quality and ensure statistical reliability of all findings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63056" y="896112"/>
            <a:ext cx="2880360" cy="39502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63056" y="896112"/>
            <a:ext cx="2880360" cy="4572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54496" y="89611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EXPECTED OUTCOME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54496" y="1444752"/>
            <a:ext cx="26974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recommendations for pricing, sourcing, and catalogue expansion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BI dashboard enabling continuous inventory monitoring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supplier strategy reducing single-brand dependency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market gaps to guide new product development priorities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Source, Structure, and Key Variables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89611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 &amp; Structure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280160"/>
            <a:ext cx="41605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Multi-brand e-commerce marketplace plant listings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Format: Excel (.xlsx) with tabular structure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Records: 440+ plant product entries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Columns: 8 key variables per record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Scope: Static snapshot of current catalogue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Granularity: Individual SKU-level product data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663440" y="8961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Variables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280160"/>
          <a:ext cx="4251960" cy="312724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product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NAME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/ vendor brand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price (INR)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SPECIAL PRICE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Discounted price (INR)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PLANT SIZE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/ Medium / Large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Indoor / Outdoor / Both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Shrub / Flower / Herb etc.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page link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Summary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 &amp; Distribution Insights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60120"/>
            <a:ext cx="2011680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05156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10.98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2880" y="1481694"/>
            <a:ext cx="20116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Special (INR)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95728" y="960120"/>
            <a:ext cx="201168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105156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332.97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95728" y="1481694"/>
            <a:ext cx="20116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Special (INR)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08576" y="960120"/>
            <a:ext cx="2011680" cy="8412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08576" y="105156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127.41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08576" y="1481694"/>
            <a:ext cx="20116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Special (INR)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21424" y="960120"/>
            <a:ext cx="2011680" cy="8412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21424" y="105156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440+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821424" y="1481694"/>
            <a:ext cx="20116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SKUs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82880" y="1920240"/>
            <a:ext cx="2011680" cy="84124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" y="201168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94.43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82880" y="2441814"/>
            <a:ext cx="20116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Original (INR)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395728" y="1920240"/>
            <a:ext cx="2011680" cy="84124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95728" y="201168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444.18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395728" y="2441814"/>
            <a:ext cx="20116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Original (INR)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08576" y="1920240"/>
            <a:ext cx="2011680" cy="84124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08576" y="201168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13+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4608576" y="2441814"/>
            <a:ext cx="20116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Brands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821424" y="1920240"/>
            <a:ext cx="2011680" cy="84124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21424" y="2011680"/>
            <a:ext cx="2011680" cy="462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10+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6821424" y="2441814"/>
            <a:ext cx="201168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Types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28600" y="2926080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Distribution Highlights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28600" y="3291840"/>
            <a:ext cx="86868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Size: Heavily skewed — Medium 73%, Large 27%, Small 0% (critical gap identified)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Location: Indoor leads (193), followed by Outdoor (124) and Both (123)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Distribution: Top 3 brands control approximately 70% of all inventory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Range: Wide variance from INR 10.98 to INR 444.18 indicating diverse market segments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Depth: Ranges from 5% (minimal) to 88% (extreme) — highly inconsistent strategy signals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Understanding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Definitions &amp; Variable Relationships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54864" cy="1170432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987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51760" y="987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Links to BRAND 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92608" y="1298448"/>
            <a:ext cx="4041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product identifier combining brand prefix and common plant name. Used for labelling and analysis joins.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91440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914400"/>
            <a:ext cx="54864" cy="117043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9875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NAME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04888" y="98755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Groups NAME records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745736" y="1298448"/>
            <a:ext cx="4041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supplying the plant. Primary dimension for market-share and supplier performance analysis.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24028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240280"/>
            <a:ext cx="54864" cy="1170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ORIGINAL PRICE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313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Paired with SPECIAL PRICE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92608" y="2624328"/>
            <a:ext cx="4041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retail price before any discount. Reflects base market value of the plant product on the platform.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6008" y="224028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2240280"/>
            <a:ext cx="54864" cy="1170432"/>
          </a:xfrm>
          <a:prstGeom prst="rect">
            <a:avLst/>
          </a:prstGeom>
          <a:solidFill>
            <a:srgbClr val="1B433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231343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 PRICE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04888" y="2313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Enables Discount analysis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745736" y="2624328"/>
            <a:ext cx="4041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Discounted selling price. Discount % = (Original - Special) / Original x 100 — key derived metric.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56616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3566160"/>
            <a:ext cx="54864" cy="1170432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SIZE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Filters with LOCATION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292608" y="3950208"/>
            <a:ext cx="4041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Small, Medium, Large. Key segmentation for customer needs (desk vs. floor plants).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36008" y="3566160"/>
            <a:ext cx="425196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36008" y="3566160"/>
            <a:ext cx="54864" cy="1170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36393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LOCATION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104888" y="36393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Rel: Cross-tabs with TYPE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45736" y="3950208"/>
            <a:ext cx="40416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Suitability tag: Indoor, Outdoor, or Both. Critical for targeting residential vs. garden customer bases.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182880" y="4700719"/>
            <a:ext cx="873252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700719"/>
            <a:ext cx="84596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TYPE: Plant category — Shrub, Flower, Herb, Succulent, Fruit, Bamboo, Bonsai, Air Purifier etc. 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–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Cleaning Was Necessary Before Analysis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from e-commerce platforms is rarely analysis-ready. The following issues were identified before proceeding: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" y="135331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566160" y="1353312"/>
            <a:ext cx="8686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353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74320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Price &amp; Size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17190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entries lacked SPECIAL PRICE or PLANT SIZE values, requiring imputation or exclusion to avoid skewing averages and category counts.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6008" y="135331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19288" y="1353312"/>
            <a:ext cx="86868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135331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27448" y="14173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Product Records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171907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brand listings for the same plant appeared with slight name variations, artificially inflating brand SKU counts and category totals.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82880" y="254203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566160" y="2542032"/>
            <a:ext cx="868680" cy="27432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542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74320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Inconsistent Brand Naming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274320" y="290779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names had capitalisation and spacing issues (e.g., Alaistore vs ALAISTORE) requiring normalisation before aggregation.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6008" y="2542032"/>
            <a:ext cx="4251960" cy="10241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019288" y="2542032"/>
            <a:ext cx="86868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19288" y="2542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727448" y="26060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Stored as Text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2907792"/>
            <a:ext cx="4069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PRICE and SPECIAL PRICE columns contained currency symbols stored as strings, preventing numerical aggregation until type conversion.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566160" y="37307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019288" y="373075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Cleaning – Steps Taken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Systematic Preprocessing Pipeline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89611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96112"/>
            <a:ext cx="475488" cy="12618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89611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Missing Value Handling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234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Excel / Pandas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31520" y="14630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with null SPECIAL PRICE were checked against ORIGINAL PRICE. Where no discount was applicable, ORIGINAL PRICE was used. Rows with no price data at all were excluded.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6008" y="89611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896112"/>
            <a:ext cx="475488" cy="126187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89611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84648" y="9601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Duplicate Removal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84648" y="12344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Excel Remove Duplicates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184648" y="146304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duplicates using NAME + BRAND NAME as a composite key. Retained the first occurrence with the most complete data; subsequent duplicates removed.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231343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2313432"/>
            <a:ext cx="475488" cy="12618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231343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1520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Type Correction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2651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Excel / Power Query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731520" y="28803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ORIGINAL PRICE and SPECIAL PRICE from text (with currency symbols) to numeric float format. Ensured consistent decimal precision across all price fields.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36008" y="231343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2313432"/>
            <a:ext cx="475488" cy="126187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231343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84648" y="23774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Standardisation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84648" y="2651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Excel UPPER / TRIM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184648" y="288036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UPPER() and TRIM() functions to normalise all brand names. Resolved 6 variant spellings across brands into single canonical forms for clean aggregation.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3730752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3730752"/>
            <a:ext cx="475488" cy="12618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3730752"/>
            <a:ext cx="47548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31520" y="37947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 Validation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31520" y="406908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Excel Data Validation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31520" y="429768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Cross-verified PLANT SIZE and LOCATION columns against defined taxonomy. Corrected 3 miscategorised entries where 'Medium' was stored as 'MED' and similar variations.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Transformation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Fields, Calculated Metrics &amp; Aggregations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86868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868680"/>
            <a:ext cx="4251960" cy="402336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8686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New Calculated Columns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38988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AMOUNT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609344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ORIGINAL PRICE - SPECIAL PRICE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1810512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saving in INR per product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0482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%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267712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(DISCOUNT AMOUNT / ORIGINAL) x 100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468880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discount applied to each SKU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2706624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PRICE TIER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2926080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IF(SPECIAL &lt; 50, Low, IF(&lt; 150, Mid, Premium))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20040" y="3127248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segment for market positioning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3649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RANK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" y="3584448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RANK by COUNT(NAME) per brand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20040" y="3785616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each brand by total SKU volume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0040" y="402336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TYPE_LOCATION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242816"/>
            <a:ext cx="3977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TYPE &amp; | &amp; LOCATION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4443984"/>
            <a:ext cx="3977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key for cross-dimensional analysis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663440" y="868680"/>
            <a:ext cx="42519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868680"/>
            <a:ext cx="4251960" cy="402336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86868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Aggregations Performed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663440" y="1389888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40817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by BRAND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159105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SKUs per brand — reveals concentration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1865376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3168" y="188366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by TYPE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3168" y="206654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mix across 10+ plant categories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2340864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73168" y="2359152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by LOCATION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73168" y="2542032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vs. Outdoor vs. Both distribution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816352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73168" y="2834640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COUNT by SIZE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73168" y="3017520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Size-tier distribution across all products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663440" y="3291840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3168" y="3310128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 ORIGINAL PRICE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73168" y="3493008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listed value per product / per brand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3767328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73168" y="378561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 SPECIAL PRICE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73168" y="396849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discount-adjusted portfolio value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663440" y="4242816"/>
            <a:ext cx="54864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73168" y="4261104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DISCOUNT %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773168" y="4443984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discount per brand for strategy comparison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 &amp; Technologies Used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Analytical Toolkit Powering This Report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28803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042416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042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Excel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60120" y="13167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Data Layer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storage, cleaning, pivot tables, statistical functions, and chart generation. Core analytical environment.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914400"/>
            <a:ext cx="28803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82696" y="1042416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042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950208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Query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50208" y="13167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Processing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82696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 pipelines for type conversion, brand standardisation, and dataset reshaping.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63056" y="914400"/>
            <a:ext cx="28803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6272784" y="1042416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042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940296" y="102412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Pivot Charts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940296" y="131673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Visualisation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72784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with dynamic slicers, card KPIs, and drill-through across all dimensions.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82880" y="2926080"/>
            <a:ext cx="28803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92608" y="3054096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2608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960120" y="30358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Excel Statistical Functions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60120" y="332841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Engine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92608" y="37033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COUNTIF, SUMIF, AVERAGEIF, RANK, PERCENTILE, QUARTILE for aggregation and distribution analysis.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172968" y="2926080"/>
            <a:ext cx="2880360" cy="18470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82696" y="3054096"/>
            <a:ext cx="566928" cy="5669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82696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950208" y="303580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PowerPoint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3950208" y="3328416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282696" y="37033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slide deck generation with chart embedding and automated design from the data.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272784" y="3054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Questions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Key Analytical Questions Guiding This Study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502920" cy="8686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14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0" y="960120"/>
            <a:ext cx="731520" cy="2560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960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49808" y="100584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brand dominates plant inventory and what percentage of SKUs do they control?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36008" y="914400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36008" y="914400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36008" y="914400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10728" y="960120"/>
            <a:ext cx="7315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960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202936" y="1005840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average discount % across products, and which products offer the deepest discounts?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82880" y="193852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182880" y="1938528"/>
            <a:ext cx="502920" cy="868680"/>
          </a:xfrm>
          <a:prstGeom prst="rect">
            <a:avLst/>
          </a:prstGeom>
          <a:solidFill>
            <a:srgbClr val="2D6A4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2880" y="19385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0" y="1984248"/>
            <a:ext cx="731520" cy="2560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19842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49808" y="202996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inventory distributed across plant sizes — and what size segment is underrepresented?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36008" y="1938528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36008" y="1938528"/>
            <a:ext cx="502920" cy="868680"/>
          </a:xfrm>
          <a:prstGeom prst="rect">
            <a:avLst/>
          </a:prstGeom>
          <a:solidFill>
            <a:srgbClr val="52B788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1938528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110728" y="1984248"/>
            <a:ext cx="731520" cy="2560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198424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202936" y="2029968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split between Indoor, Outdoor, and dual-purpose plants — and what does it imply?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82880" y="2962656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82880" y="2962656"/>
            <a:ext cx="5029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2880" y="296265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Q5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0" y="3008376"/>
            <a:ext cx="731520" cy="2560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0" y="3008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49808" y="305409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plant types (Shrub, Flower, Herb, etc.) have the highest inventory counts?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36008" y="2962656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36008" y="2962656"/>
            <a:ext cx="502920" cy="868680"/>
          </a:xfrm>
          <a:prstGeom prst="rect">
            <a:avLst/>
          </a:prstGeom>
          <a:solidFill>
            <a:srgbClr val="D4A017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36008" y="2962656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8110728" y="3008376"/>
            <a:ext cx="731520" cy="256032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3008376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202936" y="3054096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there a correlation between plant original price and the depth of discount applied?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82880" y="3986784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182880" y="3986784"/>
            <a:ext cx="502920" cy="8686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2880" y="398678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Q7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657600" y="4032504"/>
            <a:ext cx="731520" cy="2560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0" y="40325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49808" y="407822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brands have fewer than 10 products — what does this say about market consolidation?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36008" y="3986784"/>
            <a:ext cx="42519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636008" y="3986784"/>
            <a:ext cx="502920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36008" y="3986784"/>
            <a:ext cx="502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Q8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0728" y="4032504"/>
            <a:ext cx="731520" cy="2560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0728" y="4032504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202936" y="4078224"/>
            <a:ext cx="3611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products could be classified as 'loss leaders' based on their extreme discount profile?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Exploratory Data Analysis (EDA)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Trends, Patterns &amp; Preliminary Observations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92608" y="1115568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1115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87552" y="10241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Dominance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87552" y="133502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UGADU controls 177 of 440+ SKUs (approx. 40%). Top 3 brands account for ~67% of all inventory — a highly concentrated market structure.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91440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45736" y="1115568"/>
            <a:ext cx="566928" cy="566928"/>
          </a:xfrm>
          <a:prstGeom prst="ellipse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11155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40680" y="102412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Pricing Patterns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40680" y="133502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prices are 10–88% below originals. The Jade Plant at INR 444 to INR 333 has the largest absolute discount (INR 111.21) in the dataset.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33172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92608" y="2532888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87552" y="2441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 Skew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87552" y="275234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plants dominate at 73% — a clear market preference but also a blind spot. Zero small plants means desk-plant customers are completely unserved.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6008" y="233172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45736" y="2532888"/>
            <a:ext cx="566928" cy="566928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45736" y="25328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440680" y="244144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Indoor Preference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40680" y="275234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plants lead with 193 units, aligning with urban apartment living trends and the surge in remote work driving indoor greenery demand.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74904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92608" y="3950208"/>
            <a:ext cx="566928" cy="5669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2608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87552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Diversity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987552" y="416966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Shrubs (82) and Flowers (100) are the most common types. Succulents (95), Herbs (57), and Fruit plants form a meaningful secondary tier.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36008" y="3749040"/>
            <a:ext cx="425196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45736" y="3950208"/>
            <a:ext cx="566928" cy="56692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45736" y="39502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5440680" y="38587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Long-Tail Brands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440680" y="4169664"/>
            <a:ext cx="3337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13 brands carry fewer than 10 SKUs each, confirming extreme concentration around the top 3 suppliers in this marketplace.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1 – Original vs Special Price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&amp; Discount Strategy Across Top Products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841248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841248"/>
            <a:ext cx="3154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841248"/>
            <a:ext cx="54864" cy="11887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70448" y="905256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Deepest Discount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70448" y="1188720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Plant: INR 444.18 to INR 332.97 — a 47% reduction. Likely a loss leader or slow-moving stock clearance item.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760720" y="2167128"/>
            <a:ext cx="3154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60720" y="2167128"/>
            <a:ext cx="54864" cy="11887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70448" y="2231136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Extreme Budget Cut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870448" y="2514600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 Palm at INR 94 drops to INR 10.98 — an 88% reduction, the deepest discount by percentage in the dataset.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760720" y="3493008"/>
            <a:ext cx="31546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760720" y="3493008"/>
            <a:ext cx="54864" cy="1188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70448" y="3557016"/>
            <a:ext cx="2990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 Discounts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870448" y="3840480"/>
            <a:ext cx="29900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&amp; Variegated Money plants show 10–22% discounts — within normal promotional strategy ranges.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2 – Top 10 Brands by Inventory Volume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&amp; Brand Concentration Analysis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841248"/>
          <a:ext cx="87782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4224528"/>
            <a:ext cx="8778240" cy="56692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224528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UGADU leads with 177 SKUs — more than 3x its closest rival AlaIStore (55).  |  9 of 13 brands carry fewer than 10 products — a classic long-tail market structure.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3 – Plant Size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Composition by Size Category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841248"/>
          <a:ext cx="50292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Size Insights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669280" y="1389888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669280" y="1389888"/>
            <a:ext cx="54864" cy="10058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79008" y="145389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 Medium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779008" y="1737360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segment — floor plants, shrubs, palms. Best suited to living rooms and office spaces.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669280" y="2560320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669280" y="2560320"/>
            <a:ext cx="54864" cy="10058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779008" y="26243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27% Large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779008" y="2907792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tier — trees and large palms. Premium price points for gardens and balconies.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669280" y="3730752"/>
            <a:ext cx="32004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669280" y="3730752"/>
            <a:ext cx="54864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779008" y="3794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0% Small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779008" y="4078224"/>
            <a:ext cx="2971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small plants! A critical gap. Desk plants and succulent pots are entirely absent from the catalogue.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4 – Plant Type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Mix Across 10+ Plant Categories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841248"/>
          <a:ext cx="530352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669280" y="960120"/>
            <a:ext cx="3246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Breakdown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353312"/>
          <a:ext cx="3246120" cy="23042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Flower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Succulent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23.1%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Shrub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Others (6)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669280" y="3822192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Flowers and Succulents together account for 47% of the entire plant catalogue — the dominant product types for online plant retail.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5 – Plant Location Distribution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Indoor, Outdoor &amp; Dual-Suitability Analysis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457200" y="841248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005840"/>
            <a:ext cx="3017520" cy="8229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760720" y="1097280"/>
            <a:ext cx="30175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193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5760720" y="1516075"/>
            <a:ext cx="30175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Plants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760720" y="1938528"/>
            <a:ext cx="3017520" cy="82296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760720" y="2029968"/>
            <a:ext cx="30175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124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5760720" y="2448763"/>
            <a:ext cx="30175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Outdoor Plants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760720" y="2871216"/>
            <a:ext cx="3017520" cy="82296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760720" y="2962656"/>
            <a:ext cx="3017520" cy="4526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123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760720" y="3381451"/>
            <a:ext cx="301752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Both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760720" y="3840480"/>
            <a:ext cx="301752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760720" y="3840480"/>
            <a:ext cx="54864" cy="9326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870448" y="3904488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4A0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5870448" y="4187952"/>
            <a:ext cx="2852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plants outnumber Outdoor by 56%. The outdoor garden and balcony segment is underserved relative to its potential customer base.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6 – Price Trend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vs Special Price Across Products (Trend View)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841248"/>
          <a:ext cx="877824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182880" y="4407408"/>
            <a:ext cx="8778240" cy="41148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4407408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lines represents the discount applied. The Jade Plant spike shows the widest absolute price gap of any product in the dataset.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Chart 7 – Comparative Discount Analysis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Percentage by Product — Who Gets Cut the Most?</a:t>
            </a:r>
            <a:endParaRPr lang="en-US" sz="1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182880" y="841248"/>
          <a:ext cx="55778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4"/>
          <p:cNvSpPr/>
          <p:nvPr/>
        </p:nvSpPr>
        <p:spPr>
          <a:xfrm>
            <a:off x="5897880" y="9601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Discount Tiers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897880" y="1389888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897880" y="1389888"/>
            <a:ext cx="54864" cy="960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07608" y="1453896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EXTREME (&gt;60%)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07608" y="173736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 Palm (88.4%) and Clove Plant (63.2%) — likely promotional flash sales or stock clearance.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5897880" y="2505456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897880" y="2505456"/>
            <a:ext cx="54864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07608" y="2569464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 (20–40%)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07608" y="2852928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Jade Plant (25%) and Golden Money (22.3%) — typical seasonal promotional range.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897880" y="3621024"/>
            <a:ext cx="30175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897880" y="3621024"/>
            <a:ext cx="54864" cy="9601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07608" y="3685032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2B7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MINIMAL (&lt;20%)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07608" y="3968496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Variegated Money at 18.9% — essentially near-full-price with token discount.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5897880" y="4178808"/>
            <a:ext cx="3017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897880" y="4178808"/>
            <a:ext cx="54864" cy="65836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007608" y="4242816"/>
            <a:ext cx="2852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Strategic Takeaway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007608" y="4526280"/>
            <a:ext cx="2852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discounters drive traffic. Moderate discounters protect margins. Align strategy to tier.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</a:t>
            </a:r>
            <a:r>
              <a:rPr lang="en-US" sz="1000" dirty="0" err="1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Excekl</a:t>
            </a: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Dashboard — Layout &amp; Visual Structure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822960"/>
            <a:ext cx="877824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Explanation – KPIs &amp; Charts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Every Panel of the Plant Report Dashboard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105156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914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LEFT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292608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Original vs Special Price Bar Chart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2608" y="15544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bars comparing listed and discounted prices for top 5 products. Visually highlights discount depth per product.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91440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914400"/>
            <a:ext cx="1051560" cy="292608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1728" y="914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CENTRE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745736" y="126187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Size Pie Chart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45736" y="15544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 showing Medium (73%), Large (27%), and Small (0%) inventory proportions with an interactive dropdown filter.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30428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304288"/>
            <a:ext cx="1051560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" y="2304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RIGHT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92608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Type Pie Chart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92608" y="294436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Multi-segment pie with 10+ plant categories. A dropdown TYPE filter lets users isolate any single plant category.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6008" y="230428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2304288"/>
            <a:ext cx="1051560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23042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LEFT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745736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Plant Location Bar Chart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45736" y="294436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 showing Indoor (193), Both (123), and Outdoor (124) plant counts with a LOCATION filter for drill-down.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694176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3694176"/>
            <a:ext cx="1051560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" y="3694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RIGHT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292608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10 Brand Name Bar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92608" y="433425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bar ranking all 13 brands by SKU count. UGADU's dominance at 177 units is immediately and strikingly visible.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36008" y="3694176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36008" y="3694176"/>
            <a:ext cx="1051560" cy="2926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369417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 RIGHT PANEL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745736" y="404164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TYPE Filter / Slicer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45736" y="433425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Clickable filter panel listing all plant types. Selecting any type dynamically filters all 5 charts simultaneously.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Dashboard – Filters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the Plant Report Dashboard Effectively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914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Features Available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298448"/>
            <a:ext cx="4206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Slicer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Select any plant type from the right panel to instantly filter all 5 charts in real time.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SIZE Filter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Dropdown on the Size chart lets users toggle between Small, Medium, and Large views.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NAME Filter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Bottom-right bar chart includes slicer to isolate any specific supplier's products.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Drill-Down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Click any location bar to cross-filter Type and Brand charts to that subset.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Toggle</a:t>
            </a: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Price chart has Sum of ORIGINAL and SPECIAL PRICE toggle buttons for switching views.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800600" y="1463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2011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00600" y="2560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00600" y="31089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3657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42062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Findings from the Plant Analysis Dashboard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50292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1440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UGADU Monopoly Risk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49808" y="131673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UGADU holds approx. 40% of all inventory (177 SKUs). This single-brand dependency creates procurement fragility and limits competitive pricing leverage.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36008" y="914400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36008" y="914400"/>
            <a:ext cx="502920" cy="123444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36008" y="914400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02936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Extreme Discount Outliers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02936" y="131673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Areca Palm (88.4%) and Clove Plant (63.2%) show unsustainable discount depths likely eroding margins without proportionate volume benefit.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82880" y="230428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82880" y="2304288"/>
            <a:ext cx="50292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" y="230428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9808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 Small Plants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9808" y="270662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absence of Small plants (0%) is a critical untapped segment. Desk plants, succulents, and herb pots are high-demand urban and office products.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636008" y="2304288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36008" y="2304288"/>
            <a:ext cx="502920" cy="123444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36008" y="2304288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202936" y="239572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Indoor Dominance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02936" y="270662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193 indoor vs 124 outdoor products. The outdoor garden segment is underserved relative to its consumer base and lifestyle trend momentum.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" y="3694176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82880" y="3694176"/>
            <a:ext cx="502920" cy="12344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" y="3694176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49808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Flower &amp; Succulent Lead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49808" y="409651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Flowers (100) and Succulents (95) together represent 47% of the catalogue — the primary traffic and conversion drivers for the platform.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36008" y="3694176"/>
            <a:ext cx="42519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36008" y="3694176"/>
            <a:ext cx="502920" cy="123444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3694176"/>
            <a:ext cx="502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02936" y="378561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Long-Tail Brand Challenge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02936" y="4096512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13 brands carry fewer than 10 SKUs, limiting discoverability. Platform support for niche brands could unlock product diversity and premium GMV.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Actionable, Data-Driven Business Recommendations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82880" y="914400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2880" y="914400"/>
            <a:ext cx="68580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" y="914400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960120" y="978408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Introduce Small Plant Category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1280160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50–80 small plant SKUs (succulents, desk herbs, mini cacti) from existing suppliers to fill the 0% gap and target urban/office consumers.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89320" y="1005840"/>
            <a:ext cx="2926080" cy="566928"/>
          </a:xfrm>
          <a:prstGeom prst="rect">
            <a:avLst/>
          </a:prstGeom>
          <a:solidFill>
            <a:srgbClr val="EDF6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00584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New revenue stream; 15–20% catalogue expansion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2880" y="1755648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82880" y="1755648"/>
            <a:ext cx="68580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" y="1755648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960120" y="1819656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Diversify Supplier Base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12140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UGADU share from 40% to below 25% within 2 quarters by onboarding 3–5 new mid-size plant suppliers with proven product catalogues.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989320" y="1847088"/>
            <a:ext cx="2926080" cy="566928"/>
          </a:xfrm>
          <a:prstGeom prst="rect">
            <a:avLst/>
          </a:prstGeom>
          <a:solidFill>
            <a:srgbClr val="EDF6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847088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Reduces supply chain concentration risk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82880" y="2596896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82880" y="2596896"/>
            <a:ext cx="68580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2880" y="2596896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960120" y="2660904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Restructure Discount Strategy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962656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discounts at 30% for budget tier, 15–25% for mid-tier, 10–15% for premium. Review Areca Palm and Clove Plant extreme discount rationale.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989320" y="2688336"/>
            <a:ext cx="2926080" cy="566928"/>
          </a:xfrm>
          <a:prstGeom prst="rect">
            <a:avLst/>
          </a:prstGeom>
          <a:solidFill>
            <a:srgbClr val="EDF6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2688336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Estimated 8–12% margin recovery on promos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" y="3438144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82880" y="3438144"/>
            <a:ext cx="685800" cy="74980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3438144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960120" y="3502152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Expand Outdoor Plant Range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60120" y="3803904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outdoor garden range by partnering with garden-specialist suppliers. Target closing the 69-unit gap vs indoor inventory.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0" y="3529584"/>
            <a:ext cx="2926080" cy="566928"/>
          </a:xfrm>
          <a:prstGeom prst="rect">
            <a:avLst/>
          </a:prstGeom>
          <a:solidFill>
            <a:srgbClr val="EDF6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529584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Captures outdoor lifestyle customer segment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82880" y="4279392"/>
            <a:ext cx="877824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82880" y="4279392"/>
            <a:ext cx="685800" cy="7498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82880" y="4279392"/>
            <a:ext cx="685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960120" y="4343400"/>
            <a:ext cx="4892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Long-Tail Brands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464515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'Featured Boutique Brands' section for brands with under 10 SKUs. Promote specialty varieties (Bonsai, Air Purifier) to premium buyers.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989320" y="4370832"/>
            <a:ext cx="2926080" cy="566928"/>
          </a:xfrm>
          <a:prstGeom prst="rect">
            <a:avLst/>
          </a:prstGeom>
          <a:solidFill>
            <a:srgbClr val="EDF6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35040" y="437083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Increased brand diversity; premium GMV upside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73152"/>
            <a:ext cx="8686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28600" y="457200"/>
            <a:ext cx="8686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of Findings &amp; Final Thoughts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28600" y="8686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433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Found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298448"/>
            <a:ext cx="4160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inventory is healthy in volume but structurally imbalanced across brands, sizes, and locations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UGADU's dominance and the complete absence of small plants are the two most pressing strategic issues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is inconsistent — extreme discounts on budget plants contrast sharply with protected premium margins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Indoor plants are well-served; outdoor and both-suitable categories offer significant untapped potential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 dashboard successfully translates raw data into actionable, stakeholder-ready insights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51960" cy="393192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987552"/>
            <a:ext cx="4041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Final Thoughts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54880" y="1463040"/>
            <a:ext cx="4041648" cy="312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demonstrates that data-driven inventory management reveals both hidden risks and hidden opportunities. The plant e-commerce market is growing, but success depends on catalogue diversity, strategic pricing, and a balanced supplier ecosystem.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acting on the five key recommendations — especially introducing small plants and diversifying suppliers — the business can unlock new revenue streams while mitigating concentration risks.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built as part of this project ensures these insights remain accessible, current, and actionable for ongoing business monitoring.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D6A4F">
              <a:alpha val="35000"/>
            </a:srgbClr>
          </a:solidFill>
          <a:ln w="12700">
            <a:solidFill>
              <a:srgbClr val="2D6A4F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2743200"/>
            <a:ext cx="3200400" cy="3200400"/>
          </a:xfrm>
          <a:prstGeom prst="ellipse">
            <a:avLst/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700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SCOPE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Possible Improvements &amp; Next Steps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" y="1389888"/>
            <a:ext cx="2834640" cy="150876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481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Time-Series Analysis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181051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monthly sales data to identify seasonal demand patterns and optimise stock replenishment cycles.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1389888"/>
            <a:ext cx="2834640" cy="150876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28416" y="1481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Geographical Expansion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328416" y="181051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in city-level demand data to identify high-value local markets for targeted promotional campaigns.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1389888"/>
            <a:ext cx="2834640" cy="150876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72784" y="1481328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Review Analysis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272784" y="1810512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product ratings and review sentiment data to correlate quality perception with pricing and brand performance.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3108960"/>
            <a:ext cx="2834640" cy="150876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32004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Predictive Price Modelling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4048" y="3529584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regression models to predict optimal discount levels that maximise conversion without margin erosion.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18688" y="3108960"/>
            <a:ext cx="2834640" cy="150876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28416" y="32004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Turnover Metrics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28416" y="3529584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sales velocity data to identify slow-moving SKUs and automate markdown and restocking recommendations.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63056" y="3108960"/>
            <a:ext cx="2834640" cy="1508760"/>
          </a:xfrm>
          <a:prstGeom prst="rect">
            <a:avLst/>
          </a:prstGeom>
          <a:solidFill>
            <a:srgbClr val="2D6A4F">
              <a:alpha val="80000"/>
            </a:srgbClr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72784" y="320040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95D5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Competitor Benchmarking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72784" y="3529584"/>
            <a:ext cx="26334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competitor platforms to benchmark pricing and catalogue diversity against market standards in real time.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3523</Words>
  <Application>Microsoft Office PowerPoint</Application>
  <PresentationFormat>On-screen Show (16:9)</PresentationFormat>
  <Paragraphs>511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Arial Black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 Analysis Dashboard Report</dc:title>
  <dc:subject>PptxGenJS Presentation</dc:subject>
  <dc:creator>Senior Data Analyst</dc:creator>
  <cp:lastModifiedBy>Sonali Shekhawat</cp:lastModifiedBy>
  <cp:revision>1</cp:revision>
  <dcterms:created xsi:type="dcterms:W3CDTF">2026-03-18T17:28:34Z</dcterms:created>
  <dcterms:modified xsi:type="dcterms:W3CDTF">2026-03-19T10:43:18Z</dcterms:modified>
</cp:coreProperties>
</file>